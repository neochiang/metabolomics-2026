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999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999" cy="4280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275999" cy="5040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96000"/>
            <a:ext cx="30275999" cy="14400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288000"/>
            <a:ext cx="2808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Longitudinal Urinary Metabolomics in Preterm Infants</a:t>
            </a:r>
          </a:p>
          <a:p>
            <a:pPr algn="ctr"/>
            <a:r>
              <a:rPr sz="4400" b="1" i="0">
                <a:solidFill>
                  <a:srgbClr val="FFFFFF"/>
                </a:solidFill>
              </a:rPr>
              <a:t>Associated with Gestational Age and BPD Severity from 6 Months to 2 Years of 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28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Meng-Han Chiang¹  │  Chih-Yung Chiu¹²*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2808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1">
                <a:solidFill>
                  <a:srgbClr val="FFFFFF"/>
                </a:solidFill>
              </a:rPr>
              <a:t>¹Multi-omics Core Laboratory, Chang Gung Memorial Hospital at Linkou, Taoyuan, Taiwan</a:t>
            </a:r>
          </a:p>
          <a:p>
            <a:pPr algn="ctr"/>
            <a:r>
              <a:rPr sz="2100" b="0" i="1">
                <a:solidFill>
                  <a:srgbClr val="FFFFFF"/>
                </a:solidFill>
              </a:rPr>
              <a:t>²Division of Pediatric Pulmonology, Department of Pediatrics, Chang Gung Memorial Hospital at Linkou, and Chang Gung University, Taiwan</a:t>
            </a:r>
          </a:p>
          <a:p>
            <a:pPr algn="ctr"/>
            <a:r>
              <a:rPr sz="1900" b="0" i="0">
                <a:solidFill>
                  <a:srgbClr val="AACCFF"/>
                </a:solidFill>
              </a:rPr>
              <a:t>*Corresponding author: pedchestIC@gmail.com  │  Metabolomics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920000" y="360000"/>
            <a:ext cx="36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CGMH
LINKOU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220000"/>
            <a:ext cx="93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B5C"/>
                </a:solidFill>
              </a:rPr>
              <a:t>INTRODUCTION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5760000"/>
            <a:ext cx="9360000" cy="5400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5940000"/>
            <a:ext cx="9360000" cy="4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C3E50"/>
                </a:solidFill>
              </a:rPr>
              <a:t>Bronchopulmonary dysplasia (BPD) is a chronic lung disease predominantly affecting preterm infants requiring mechanical ventilation or supplemental oxygen. Despite clinical improvement within the first two years, the longitudinal trajectory of urinary metabolic alterations — and their associations with gestational age (GA) and BPD severity — remains insufficiently characterized.
This study identified urinary metabolomic profiles at 6 months (6M) and 2 years (2Y) of corrected age across GA and BPD severity groups using ¹H-NMR spectroscopy.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10980000"/>
            <a:ext cx="93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B5C"/>
                </a:solidFill>
              </a:rPr>
              <a:t>METHODS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11520000"/>
            <a:ext cx="9360000" cy="5400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11700000"/>
            <a:ext cx="9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2B5C"/>
                </a:solidFill>
              </a:rPr>
              <a:t>Study Population: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00" y="12006000"/>
            <a:ext cx="918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</a:rPr>
              <a:t>140 preterm (&lt;32 wk) and full-term (≥37 wk) infants prospectively enrolled (2019 NICHD BPD criteria). 254 urine samples: 6M (n=139), 2Y (n=115).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12945600"/>
            <a:ext cx="9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2B5C"/>
                </a:solidFill>
              </a:rPr>
              <a:t>Stratification: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000" y="13251600"/>
            <a:ext cx="918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</a:rPr>
              <a:t>GA: ≥37 wk (controls), 28–32 wk, &lt;28 wk
BPD: Healthy controls (HC), No+Mild BPD, Moderate+Severe (M+S) BPD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13932000"/>
            <a:ext cx="9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2B5C"/>
                </a:solidFill>
              </a:rPr>
              <a:t>¹H-NMR Processing: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000" y="14238000"/>
            <a:ext cx="918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</a:rPr>
              <a:t>Spectra processed via NMRProcFlow. Metabolites identified with Chenomx 8.1. Intensities normalized to urinary creatinine.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14918400"/>
            <a:ext cx="9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2B5C"/>
                </a:solidFill>
              </a:rPr>
              <a:t>Statistics: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00" y="15224400"/>
            <a:ext cx="918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</a:rPr>
              <a:t>Kruskal-Wallis test • Mfuzz clustering • MetaboAnalyst pathway ORA (Fisher’s exact + Benjamini-Hochberg FDR)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40000" y="5220000"/>
            <a:ext cx="93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B5C"/>
                </a:solidFill>
              </a:rPr>
              <a:t>KEY FINDINGS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40000" y="5760000"/>
            <a:ext cx="9360000" cy="5400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40000" y="5940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B5C"/>
                </a:solidFill>
              </a:rPr>
              <a:t>1 — Expanding metabolic burden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84000" y="6282000"/>
            <a:ext cx="92160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</a:rPr>
              <a:t>16 and 18 metabolites associated with GA, and 30 and 12 with BPD severity, at 6M and 2Y (P&lt;0.05). Marked contraction of BPD-associated metabolites from 6M to 2Y suggests a shifting metabolic landscape despite clinical improvement.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40000" y="7542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B5C"/>
                </a:solidFill>
              </a:rPr>
              <a:t>2 — Gut microbiome signature at 6M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84000" y="7884000"/>
            <a:ext cx="92160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</a:rPr>
              <a:t>3-MOV, 4-hydroxyphenylacetate, indoxyl sulfate, and N-PAG significantly elevated in GA&lt;28 wk vs. full-term (P&lt;0.001); also elevated in M+S BPD vs. HC (P&lt;0.001), pointing to early gut dysbiosis in extremely preterm infants.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40000" y="9144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B5C"/>
                </a:solidFill>
              </a:rPr>
              <a:t>3 — Persistence and amplification to 2Y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84000" y="9486000"/>
            <a:ext cx="92160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</a:rPr>
              <a:t>N-PAG and indoxyl sulfate remained elevated at 2Y with higher fold changes (N-PAG: 1.82 vs 1.76; indoxyl sulfate: 1.73 vs 1.57), suggesting metabolic divergence intensifies over time despite apparent clinical recovery.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40000" y="10746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B5C"/>
                </a:solidFill>
              </a:rPr>
              <a:t>4 — Complete metabolic overlap at 6M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84000" y="11088000"/>
            <a:ext cx="9216000" cy="10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</a:rPr>
              <a:t>All 16 GA-significant metabolites at 6M were also BPD-significant — zero GA-exclusive metabolites. Prematurity and BPD severity share an indistinguishable urinary metabolic signature at 6 months corrected age.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60000" y="5220000"/>
            <a:ext cx="93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B5C"/>
                </a:solidFill>
              </a:rPr>
              <a:t>KEY FINDINGS (CONT.)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60000" y="5760000"/>
            <a:ext cx="9360000" cy="5400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160000" y="5940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B5C"/>
                </a:solidFill>
              </a:rPr>
              <a:t>5 — Consistent biomarker panel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304000" y="6282000"/>
            <a:ext cx="9216000" cy="10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</a:rPr>
              <a:t>N-PAG, indoxyl sulfate, acetylsalicylate, glutamine, pantothenic acid, and succinate were associated with GA and/or BPD at both 6M and 2Y — the most temporally consistent metabolic alterations identified.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60000" y="7272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B5C"/>
                </a:solidFill>
              </a:rPr>
              <a:t>6 — Persistent pathway disruption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304000" y="7614000"/>
            <a:ext cx="92160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</a:rPr>
              <a:t>Alanine/aspartate/glutamate (FDR&lt;0.05 at 6M) and glyoxylate/dicarboxylate metabolism remained enriched at both timepoints. Valine/leucine/isoleucine biosynthesis enriched at both 6M and 2Y, consistent with 3-MOV signal.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60000" y="9018000"/>
            <a:ext cx="93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2B5C"/>
                </a:solidFill>
              </a:rPr>
              <a:t>TABLE 1 — DEMOGRAPHICS (GA GROUPS)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60000" y="9558000"/>
            <a:ext cx="9360000" cy="5400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20160000" y="9738000"/>
          <a:ext cx="9359999" cy="4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1728000"/>
                <a:gridCol w="1728000"/>
                <a:gridCol w="1728000"/>
                <a:gridCol w="1475999"/>
              </a:tblGrid>
              <a:tr h="57600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Characteristic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≥37 wk
(n=50/40)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28–32 wk
(n=48/37)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&lt;28 wk
(n=41/38)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</a:tr>
              <a:tr h="5760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GA (wk)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39.1±0.8 / 39.0±0.9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30.7±0.9 / 30.8±0.9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26.1±1.4 / 26.2±1.3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&lt;0.001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760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Birth wt (g)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3136±348 / 3147±385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1352±276 / 1374±224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782±205 / 772±183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Body wt (kg)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7.9±0.8 / 12.3±1.6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7.8±1.4 / 11.4±1.7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7.0±1.5 / 10.6±1.5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0.003 / &lt;0.001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760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BMI (kg/m²)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17.2±1.1 / 16.0±1.3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17.7±2.4 / 15.6±1.4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16.5±1.8 / 14.9±1.4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0.019 / 0.002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Breastfed ≥6M (%)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56.8 / 60.0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30.0 / 43.2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44.7 / 44.7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0.047 / 0.261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760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Sepsis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2.3 / 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30.0 / 32.4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81.1 / 81.1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20160000" y="13878000"/>
            <a:ext cx="9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C3E50"/>
                </a:solidFill>
              </a:rPr>
              <a:t>Values: mean±SD or % (6M / 2Y). Bold P &lt; 0.05 is significant. GA, gestational age; BMI, body mass index.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0000" y="20160000"/>
            <a:ext cx="28835999" cy="4320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0000" y="20268000"/>
            <a:ext cx="13885714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2B5C"/>
                </a:solidFill>
              </a:rPr>
              <a:t>Figure 1A. Urinary metabolites significantly associated with gestational age (GA).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325714" y="20268000"/>
            <a:ext cx="1215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2B5C"/>
                </a:solidFill>
              </a:rPr>
              <a:t>Figure 1B. Urinary metabolites significantly associated with BPD severity.</a:t>
            </a:r>
          </a:p>
        </p:txBody>
      </p:sp>
      <p:pic>
        <p:nvPicPr>
          <p:cNvPr id="45" name="Picture 44" descr="GA_heatmap_v6_c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20700000"/>
            <a:ext cx="13885714" cy="10800000"/>
          </a:xfrm>
          <a:prstGeom prst="rect">
            <a:avLst/>
          </a:prstGeom>
        </p:spPr>
      </p:pic>
      <p:pic>
        <p:nvPicPr>
          <p:cNvPr id="46" name="Picture 45" descr="BPD_heatmap_v6_c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5714" y="20700000"/>
            <a:ext cx="12150000" cy="10800000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720000" y="32328000"/>
            <a:ext cx="28835999" cy="4320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0000" y="32508000"/>
            <a:ext cx="19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</a:rPr>
              <a:t>PATHWAY ENRICHMENT ANALYSIS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0000" y="33048000"/>
            <a:ext cx="19440000" cy="5400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720000" y="33228000"/>
          <a:ext cx="19440000" cy="47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0"/>
                <a:gridCol w="7020000"/>
                <a:gridCol w="2700000"/>
                <a:gridCol w="2160000"/>
                <a:gridCol w="2160000"/>
                <a:gridCol w="2160000"/>
              </a:tblGrid>
              <a:tr h="59400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Pathway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Hits / Total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Raw P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FDR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Function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</a:tr>
              <a:tr h="5940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6M BPD only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Ala, Asp &amp; Glu metabolism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4 / 28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&lt;0.001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&lt;0.001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Amino acid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5940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6M BPD only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Glyoxylate &amp; dicarboxylate metabolism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3 / 32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&lt;0.001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0.023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Carbohydrate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5940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6M GA+BPD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Val/Leu/Ile biosynthesis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2 / 8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&lt;0.001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0.063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Amino acid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5940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2Y GA only</a:t>
                      </a:r>
                    </a:p>
                  </a:txBody>
                  <a:tcPr>
                    <a:solidFill>
                      <a:srgbClr val="FD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Tyrosine metabolism</a:t>
                      </a:r>
                    </a:p>
                  </a:txBody>
                  <a:tcPr>
                    <a:solidFill>
                      <a:srgbClr val="FD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2 / 42</a:t>
                      </a:r>
                    </a:p>
                  </a:txBody>
                  <a:tcPr>
                    <a:solidFill>
                      <a:srgbClr val="FD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0.017</a:t>
                      </a:r>
                    </a:p>
                  </a:txBody>
                  <a:tcPr>
                    <a:solidFill>
                      <a:srgbClr val="FD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0.792</a:t>
                      </a:r>
                    </a:p>
                  </a:txBody>
                  <a:tcPr>
                    <a:solidFill>
                      <a:srgbClr val="FD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Amino acid</a:t>
                      </a:r>
                    </a:p>
                  </a:txBody>
                  <a:tcPr>
                    <a:solidFill>
                      <a:srgbClr val="FDF2CC"/>
                    </a:solidFill>
                  </a:tcPr>
                </a:tc>
              </a:tr>
              <a:tr h="5940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2Y GA only</a:t>
                      </a:r>
                    </a:p>
                  </a:txBody>
                  <a:tcPr>
                    <a:solidFill>
                      <a:srgbClr val="FD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Taurine &amp; hypotaurine metabolism</a:t>
                      </a:r>
                    </a:p>
                  </a:txBody>
                  <a:tcPr>
                    <a:solidFill>
                      <a:srgbClr val="FD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1 / 10</a:t>
                      </a:r>
                    </a:p>
                  </a:txBody>
                  <a:tcPr>
                    <a:solidFill>
                      <a:srgbClr val="FD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0.040</a:t>
                      </a:r>
                    </a:p>
                  </a:txBody>
                  <a:tcPr>
                    <a:solidFill>
                      <a:srgbClr val="FD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0.792</a:t>
                      </a:r>
                    </a:p>
                  </a:txBody>
                  <a:tcPr>
                    <a:solidFill>
                      <a:srgbClr val="FD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Other AA</a:t>
                      </a:r>
                    </a:p>
                  </a:txBody>
                  <a:tcPr>
                    <a:solidFill>
                      <a:srgbClr val="FDF2CC"/>
                    </a:solidFill>
                  </a:tcPr>
                </a:tc>
              </a:tr>
              <a:tr h="5940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2Y GA+BPD</a:t>
                      </a:r>
                    </a:p>
                  </a:txBody>
                  <a:tcPr>
                    <a:solidFill>
                      <a:srgbClr val="FAD7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Ala, Asp &amp; Glu metabolism</a:t>
                      </a:r>
                    </a:p>
                  </a:txBody>
                  <a:tcPr>
                    <a:solidFill>
                      <a:srgbClr val="FAD7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2 / 28</a:t>
                      </a:r>
                    </a:p>
                  </a:txBody>
                  <a:tcPr>
                    <a:solidFill>
                      <a:srgbClr val="FAD7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0.004</a:t>
                      </a:r>
                    </a:p>
                  </a:txBody>
                  <a:tcPr>
                    <a:solidFill>
                      <a:srgbClr val="FAD7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0.223</a:t>
                      </a:r>
                    </a:p>
                  </a:txBody>
                  <a:tcPr>
                    <a:solidFill>
                      <a:srgbClr val="FAD7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Amino acid</a:t>
                      </a:r>
                    </a:p>
                  </a:txBody>
                  <a:tcPr>
                    <a:solidFill>
                      <a:srgbClr val="FAD7A0"/>
                    </a:solidFill>
                  </a:tcPr>
                </a:tc>
              </a:tr>
              <a:tr h="5940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2Y GA+BPD</a:t>
                      </a:r>
                    </a:p>
                  </a:txBody>
                  <a:tcPr>
                    <a:solidFill>
                      <a:srgbClr val="FAD7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Glyoxylate &amp; dicarboxylate metabolism</a:t>
                      </a:r>
                    </a:p>
                  </a:txBody>
                  <a:tcPr>
                    <a:solidFill>
                      <a:srgbClr val="FAD7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2 / 32</a:t>
                      </a:r>
                    </a:p>
                  </a:txBody>
                  <a:tcPr>
                    <a:solidFill>
                      <a:srgbClr val="FAD7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0.006</a:t>
                      </a:r>
                    </a:p>
                  </a:txBody>
                  <a:tcPr>
                    <a:solidFill>
                      <a:srgbClr val="FAD7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0.223</a:t>
                      </a:r>
                    </a:p>
                  </a:txBody>
                  <a:tcPr>
                    <a:solidFill>
                      <a:srgbClr val="FAD7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A1A1A"/>
                          </a:solidFill>
                        </a:rPr>
                        <a:t>Carbohydrate</a:t>
                      </a:r>
                    </a:p>
                  </a:txBody>
                  <a:tcPr>
                    <a:solidFill>
                      <a:srgbClr val="FAD7A0"/>
                    </a:solidFill>
                  </a:tcPr>
                </a:tc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720000" y="38088000"/>
            <a:ext cx="194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C3E50"/>
                </a:solidFill>
              </a:rPr>
              <a:t>ORA: Fisher’s exact test, Benjamini-Hochberg FDR. Background: 800 KEGG human metabolic compounds. 6M GA only: all GA metabolites overlap BPD group. 2Y BPD only: too few metabolites for analysis.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20000" y="32508000"/>
            <a:ext cx="9035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</a:rPr>
              <a:t>CONCLUSIONS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520000" y="33048000"/>
            <a:ext cx="9035999" cy="5400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520000" y="33228000"/>
            <a:ext cx="9035999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</a:rPr>
              <a:t>•  Metabolic signatures of prematurity and BPD persist from 6M to 2Y and may intensify over time.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20000" y="33915600"/>
            <a:ext cx="9035999" cy="9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</a:rPr>
              <a:t>•  Gut microbiome-derived metabolites (N-PAG, indoxyl sulfate) consistently elevated in extremely preterm and M+S BPD infants.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20000" y="34884000"/>
            <a:ext cx="9035999" cy="9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</a:rPr>
              <a:t>•  Complete GA–BPD metabolic overlap at 6M followed by divergence at 2Y underscores evolving, BPD-specific dysregulation.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20000" y="35852400"/>
            <a:ext cx="9035999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</a:rPr>
              <a:t>•  Persistently enriched amino acid pathways implicate disrupted nitrogen metabolism beyond the acute BPD phase, with implications for biomarker identification and therapeutic intervention.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38340000"/>
            <a:ext cx="30275999" cy="4464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0000" y="38628000"/>
            <a:ext cx="19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0000" y="38952000"/>
            <a:ext cx="19800000" cy="3600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0000" y="39024000"/>
            <a:ext cx="198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1. Jobe AH, Bancalari E. Bronchopulmonary Dysplasia. AJRCCM 2001;163(7):1723-9.
2. Higgins RD, et al. Defining Bronchopulmonary Dysplasia (NICHD Workshop). Pediatrics 2018;142(6).
3. Chong J, et al. MetaboAnalyst 5.0. Nucleic Acids Res 2021;49(W1):W388–W396.
4. Wishart DS, et al. HMDB 5.0. Nucleic Acids Res 2022;50(D1):D622–D631.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600000" y="38628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CONTACT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600000" y="38952000"/>
            <a:ext cx="7920000" cy="3600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600000" y="39024000"/>
            <a:ext cx="792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Chih-Yung Chiu, MD PhD
Multi-omics Core Laboratory
Chang Gung Memorial Hospital at Linkou
Taoyuan, Taiwan
pedchestIC@gmail.com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